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2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12192000" cy="6858000"/>
  <p:notesSz cx="6858000" cy="9144000"/>
  <p:embeddedFontLst>
    <p:embeddedFont>
      <p:font typeface="Oswald" panose="020B0604020202020204" charset="0"/>
      <p:regular r:id="rId28"/>
      <p:bold r:id="rId29"/>
    </p:embeddedFont>
    <p:embeddedFont>
      <p:font typeface="Roboto" panose="020B060402020202020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34" roundtripDataSignature="AMtx7miHuIbsw5RC/F68yBeUKmRg34sr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4CFF7F2-A788-4970-8986-74AD33A210EB}">
  <a:tblStyle styleId="{74CFF7F2-A788-4970-8986-74AD33A210EB}" styleName="Table_0">
    <a:wholeTbl>
      <a:tcTxStyle b="off" i="off">
        <a:font>
          <a:latin typeface="Roboto"/>
          <a:ea typeface="Roboto"/>
          <a:cs typeface="Roboto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Roboto"/>
          <a:ea typeface="Roboto"/>
          <a:cs typeface="Roboto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Roboto"/>
          <a:ea typeface="Roboto"/>
          <a:cs typeface="Roboto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Roboto"/>
          <a:ea typeface="Roboto"/>
          <a:cs typeface="Roboto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Roboto"/>
          <a:ea typeface="Roboto"/>
          <a:cs typeface="Roboto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customschemas.google.com/relationships/presentationmetadata" Target="meta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6.fntdata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2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5.fntdata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1.fntdata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" name="Google Shape;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" name="Google Shape;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3" name="Google Shape;7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9" name="Google Shape;7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5" name="Google Shape;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41430282c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1" name="Google Shape;101;g3f41430282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e918432eb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" name="Google Shape;107;g37e918432e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e918432eb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" name="Google Shape;113;g37e918432e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7e918432eb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g37e918432eb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e918432eb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7" name="Google Shape;127;g37e918432eb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4" name="Google Shape;13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7e918432eb_0_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7e918432eb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e918432eb_0_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8" name="Google Shape;148;g37e918432eb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7e918432eb_0_1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5" name="Google Shape;155;g37e918432eb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e918432eb_0_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g37e918432eb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7e918432eb_0_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0" name="Google Shape;170;g37e918432eb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7" name="Google Shape;17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0" name="Google Shape;19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8" name="Google Shape;19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9" name="Google Shape;20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0" name="Google Shape;22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A4E4D"/>
              </a:buClr>
              <a:buSzPts val="6000"/>
              <a:buFont typeface="Oswald"/>
              <a:buNone/>
              <a:defRPr sz="6000">
                <a:solidFill>
                  <a:srgbClr val="EA4E4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3B3B3"/>
              </a:buClr>
              <a:buSzPts val="2400"/>
              <a:buNone/>
              <a:defRPr sz="2400">
                <a:solidFill>
                  <a:srgbClr val="F3B3B3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DFDFD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DFDFD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DFDFD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DFDFD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3B3B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2"/>
          <p:cNvSpPr txBox="1">
            <a:spLocks noGrp="1"/>
          </p:cNvSpPr>
          <p:nvPr>
            <p:ph type="ft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3B3B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bg>
      <p:bgPr>
        <a:solidFill>
          <a:srgbClr val="EA4E4D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6000"/>
              <a:buFont typeface="Oswald"/>
              <a:buNone/>
              <a:defRPr sz="6000">
                <a:solidFill>
                  <a:srgbClr val="231F2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3B3B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A4E4D"/>
              </a:buClr>
              <a:buSzPts val="4400"/>
              <a:buFont typeface="Oswald"/>
              <a:buNone/>
              <a:defRPr>
                <a:solidFill>
                  <a:srgbClr val="EA4E4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DFDFD"/>
              </a:buClr>
              <a:buSzPts val="2800"/>
              <a:buChar char="•"/>
              <a:defRPr>
                <a:solidFill>
                  <a:srgbClr val="FDFDFD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DFDFD"/>
              </a:buClr>
              <a:buSzPts val="2400"/>
              <a:buChar char="•"/>
              <a:defRPr>
                <a:solidFill>
                  <a:srgbClr val="FDFDFD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DFDFD"/>
              </a:buClr>
              <a:buSzPts val="2000"/>
              <a:buChar char="•"/>
              <a:defRPr>
                <a:solidFill>
                  <a:srgbClr val="FDFDFD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DFDFD"/>
              </a:buClr>
              <a:buSzPts val="1800"/>
              <a:buChar char="•"/>
              <a:defRPr>
                <a:solidFill>
                  <a:srgbClr val="FDFDFD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DFDFD"/>
              </a:buClr>
              <a:buSzPts val="1800"/>
              <a:buChar char="•"/>
              <a:defRPr>
                <a:solidFill>
                  <a:srgbClr val="FDFDFD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3B3B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3B3B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lang="pt-BR"/>
              <a:t>/40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3B3B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3B3B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lang="pt-BR"/>
              <a:t>/40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A4E4D"/>
              </a:buClr>
              <a:buSzPts val="4400"/>
              <a:buFont typeface="Oswald"/>
              <a:buNone/>
              <a:defRPr>
                <a:solidFill>
                  <a:srgbClr val="EA4E4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DFDFD"/>
              </a:buClr>
              <a:buSzPts val="2800"/>
              <a:buChar char="•"/>
              <a:defRPr>
                <a:solidFill>
                  <a:srgbClr val="FDFDFD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DFDFD"/>
              </a:buClr>
              <a:buSzPts val="2400"/>
              <a:buChar char="•"/>
              <a:defRPr>
                <a:solidFill>
                  <a:srgbClr val="FDFDFD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DFDFD"/>
              </a:buClr>
              <a:buSzPts val="2000"/>
              <a:buChar char="•"/>
              <a:defRPr>
                <a:solidFill>
                  <a:srgbClr val="FDFDFD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DFDFD"/>
              </a:buClr>
              <a:buSzPts val="1800"/>
              <a:buChar char="•"/>
              <a:defRPr>
                <a:solidFill>
                  <a:srgbClr val="FDFDFD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DFDFD"/>
              </a:buClr>
              <a:buSzPts val="1800"/>
              <a:buChar char="•"/>
              <a:defRPr>
                <a:solidFill>
                  <a:srgbClr val="FDFDFD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4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DFDFD"/>
              </a:buClr>
              <a:buSzPts val="2800"/>
              <a:buChar char="•"/>
              <a:defRPr>
                <a:solidFill>
                  <a:srgbClr val="FDFDFD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DFDFD"/>
              </a:buClr>
              <a:buSzPts val="2400"/>
              <a:buChar char="•"/>
              <a:defRPr>
                <a:solidFill>
                  <a:srgbClr val="FDFDFD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DFDFD"/>
              </a:buClr>
              <a:buSzPts val="2000"/>
              <a:buChar char="•"/>
              <a:defRPr>
                <a:solidFill>
                  <a:srgbClr val="FDFDFD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DFDFD"/>
              </a:buClr>
              <a:buSzPts val="1800"/>
              <a:buChar char="•"/>
              <a:defRPr>
                <a:solidFill>
                  <a:srgbClr val="FDFDFD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DFDFD"/>
              </a:buClr>
              <a:buSzPts val="1800"/>
              <a:buChar char="•"/>
              <a:defRPr>
                <a:solidFill>
                  <a:srgbClr val="FDFDFD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3B3B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3B3B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lang="pt-BR"/>
              <a:t>/40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A4E4D"/>
              </a:buClr>
              <a:buSzPts val="4400"/>
              <a:buFont typeface="Oswald"/>
              <a:buNone/>
              <a:defRPr>
                <a:solidFill>
                  <a:srgbClr val="EA4E4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3B3B3"/>
              </a:buClr>
              <a:buSzPts val="2400"/>
              <a:buNone/>
              <a:defRPr sz="2400" b="1">
                <a:solidFill>
                  <a:srgbClr val="F3B3B3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DFDFD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DFDFD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DFDFD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DFDFD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4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DFDFD"/>
              </a:buClr>
              <a:buSzPts val="2800"/>
              <a:buChar char="•"/>
              <a:defRPr>
                <a:solidFill>
                  <a:srgbClr val="FDFDFD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DFDFD"/>
              </a:buClr>
              <a:buSzPts val="2400"/>
              <a:buChar char="•"/>
              <a:defRPr>
                <a:solidFill>
                  <a:srgbClr val="FDFDFD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DFDFD"/>
              </a:buClr>
              <a:buSzPts val="2000"/>
              <a:buChar char="•"/>
              <a:defRPr>
                <a:solidFill>
                  <a:srgbClr val="FDFDFD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DFDFD"/>
              </a:buClr>
              <a:buSzPts val="1800"/>
              <a:buChar char="•"/>
              <a:defRPr>
                <a:solidFill>
                  <a:srgbClr val="FDFDFD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DFDFD"/>
              </a:buClr>
              <a:buSzPts val="1800"/>
              <a:buChar char="•"/>
              <a:defRPr>
                <a:solidFill>
                  <a:srgbClr val="FDFDFD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4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3B3B3"/>
              </a:buClr>
              <a:buSzPts val="2400"/>
              <a:buNone/>
              <a:defRPr sz="2400" b="1">
                <a:solidFill>
                  <a:srgbClr val="F3B3B3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DFDFD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DFDFD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DFDFD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DFDFD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4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DFDFD"/>
              </a:buClr>
              <a:buSzPts val="2800"/>
              <a:buChar char="•"/>
              <a:defRPr>
                <a:solidFill>
                  <a:srgbClr val="FDFDFD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DFDFD"/>
              </a:buClr>
              <a:buSzPts val="2400"/>
              <a:buChar char="•"/>
              <a:defRPr>
                <a:solidFill>
                  <a:srgbClr val="FDFDFD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DFDFD"/>
              </a:buClr>
              <a:buSzPts val="2000"/>
              <a:buChar char="•"/>
              <a:defRPr>
                <a:solidFill>
                  <a:srgbClr val="FDFDFD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DFDFD"/>
              </a:buClr>
              <a:buSzPts val="1800"/>
              <a:buChar char="•"/>
              <a:defRPr>
                <a:solidFill>
                  <a:srgbClr val="FDFDFD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DFDFD"/>
              </a:buClr>
              <a:buSzPts val="1800"/>
              <a:buChar char="•"/>
              <a:defRPr>
                <a:solidFill>
                  <a:srgbClr val="FDFDFD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3B3B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3B3B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lang="pt-BR"/>
              <a:t>/40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A4E4D"/>
              </a:buClr>
              <a:buSzPts val="4400"/>
              <a:buFont typeface="Oswald"/>
              <a:buNone/>
              <a:defRPr>
                <a:solidFill>
                  <a:srgbClr val="EA4E4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3B3B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3B3B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lang="pt-BR"/>
              <a:t>/40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1F20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A4E4D"/>
              </a:buClr>
              <a:buSzPts val="4400"/>
              <a:buFont typeface="Oswald"/>
              <a:buNone/>
              <a:defRPr sz="4400" b="0" i="0" u="none" strike="noStrike" cap="none">
                <a:solidFill>
                  <a:srgbClr val="EA4E4D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DFDFD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FDFDFD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DFDFD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FDFDFD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DFDFD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FDFDFD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DFDFD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FDFDFD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DFDFD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FDFDFD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" name="Google Shape;12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3" name="Google Shape;13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4" name="Google Shape;14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3B3B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lang="pt-BR"/>
              <a:t>/40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"/>
          <p:cNvPicPr preferRelativeResize="0"/>
          <p:nvPr/>
        </p:nvPicPr>
        <p:blipFill rotWithShape="1">
          <a:blip r:embed="rId3">
            <a:alphaModFix/>
          </a:blip>
          <a:srcRect b="15730"/>
          <a:stretch/>
        </p:blipFill>
        <p:spPr>
          <a:xfrm>
            <a:off x="20" y="10"/>
            <a:ext cx="12191979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"/>
          <p:cNvSpPr txBox="1">
            <a:spLocks noGrp="1"/>
          </p:cNvSpPr>
          <p:nvPr>
            <p:ph type="ctrTitle"/>
          </p:nvPr>
        </p:nvSpPr>
        <p:spPr>
          <a:xfrm>
            <a:off x="362665" y="425058"/>
            <a:ext cx="4775075" cy="1630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Roboto"/>
              <a:buNone/>
            </a:pPr>
            <a:r>
              <a:rPr lang="pt-BR" sz="4800" b="1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AI &amp; CHATBOT</a:t>
            </a:r>
            <a:endParaRPr/>
          </a:p>
        </p:txBody>
      </p:sp>
      <p:sp>
        <p:nvSpPr>
          <p:cNvPr id="61" name="Google Shape;61;p1"/>
          <p:cNvSpPr txBox="1">
            <a:spLocks noGrp="1"/>
          </p:cNvSpPr>
          <p:nvPr>
            <p:ph type="subTitle" idx="1"/>
          </p:nvPr>
        </p:nvSpPr>
        <p:spPr>
          <a:xfrm>
            <a:off x="499501" y="2055965"/>
            <a:ext cx="4501401" cy="862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pt-BR" sz="2200">
                <a:solidFill>
                  <a:schemeClr val="dk1"/>
                </a:solidFill>
              </a:rPr>
              <a:t>Aula 4 – Algoritmos de Regressão</a:t>
            </a:r>
            <a:endParaRPr/>
          </a:p>
        </p:txBody>
      </p:sp>
      <p:pic>
        <p:nvPicPr>
          <p:cNvPr id="62" name="Google Shape;62;p1"/>
          <p:cNvPicPr preferRelativeResize="0"/>
          <p:nvPr/>
        </p:nvPicPr>
        <p:blipFill rotWithShape="1">
          <a:blip r:embed="rId4">
            <a:alphaModFix/>
          </a:blip>
          <a:srcRect l="45098"/>
          <a:stretch/>
        </p:blipFill>
        <p:spPr>
          <a:xfrm>
            <a:off x="8704176" y="5914212"/>
            <a:ext cx="3175047" cy="682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5435" y="5231979"/>
            <a:ext cx="2352527" cy="682233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"/>
          <p:cNvSpPr txBox="1"/>
          <p:nvPr/>
        </p:nvSpPr>
        <p:spPr>
          <a:xfrm>
            <a:off x="312777" y="5489760"/>
            <a:ext cx="4501401" cy="951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Prof. Luciano Pedroso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6000"/>
              <a:buFont typeface="Oswald"/>
              <a:buNone/>
            </a:pPr>
            <a:r>
              <a:rPr lang="pt-BR"/>
              <a:t>Regressão</a:t>
            </a:r>
            <a:endParaRPr/>
          </a:p>
        </p:txBody>
      </p:sp>
      <p:sp>
        <p:nvSpPr>
          <p:cNvPr id="70" name="Google Shape;70;p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pt-BR"/>
              <a:t>Uma introdução ao Aprendizado de Máquina Supervisionado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A4E4D"/>
              </a:buClr>
              <a:buSzPts val="4400"/>
              <a:buFont typeface="Oswald"/>
              <a:buNone/>
            </a:pPr>
            <a:r>
              <a:rPr lang="pt-BR"/>
              <a:t>Aprendizado Supervisionado</a:t>
            </a:r>
            <a:endParaRPr/>
          </a:p>
        </p:txBody>
      </p:sp>
      <p:pic>
        <p:nvPicPr>
          <p:cNvPr id="76" name="Google Shape;7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10508" y="1616797"/>
            <a:ext cx="9091959" cy="4479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A4E4D"/>
              </a:buClr>
              <a:buSzPts val="4400"/>
              <a:buFont typeface="Oswald"/>
              <a:buNone/>
            </a:pPr>
            <a:r>
              <a:rPr lang="pt-BR"/>
              <a:t>Aprendizado Supervisionado</a:t>
            </a:r>
            <a:endParaRPr/>
          </a:p>
        </p:txBody>
      </p:sp>
      <p:sp>
        <p:nvSpPr>
          <p:cNvPr id="82" name="Google Shape;82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79038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DFDFD"/>
              </a:buClr>
              <a:buSzPct val="100000"/>
              <a:buChar char="•"/>
            </a:pPr>
            <a:r>
              <a:rPr lang="pt-BR"/>
              <a:t>No Aprendizado de Máquina Supervisionado, temos dados com valor alvo definido para cada entrada;</a:t>
            </a: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DFDFD"/>
              </a:buClr>
              <a:buSzPct val="100000"/>
              <a:buChar char="•"/>
            </a:pPr>
            <a:r>
              <a:rPr lang="pt-BR"/>
              <a:t>Esse dados podem ser usados como exemplos para ensinar o computador o padrão que estamos buscando;</a:t>
            </a:r>
            <a:endParaRPr/>
          </a:p>
          <a:p>
            <a:pPr marL="971550" lvl="1" indent="-37338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DFDFD"/>
              </a:buClr>
              <a:buSzPct val="100000"/>
              <a:buFont typeface="Oswald"/>
              <a:buNone/>
            </a:pP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DFDFD"/>
              </a:buClr>
              <a:buSzPct val="100000"/>
              <a:buChar char="•"/>
            </a:pPr>
            <a:r>
              <a:rPr lang="pt-BR"/>
              <a:t>Normalmente os valores alvo são obtidos através de trabalho humano (anotação de rótulos) ou na coleta massiva de dados (regressão);</a:t>
            </a:r>
            <a:endParaRPr/>
          </a:p>
          <a:p>
            <a:pPr marL="228600" lvl="0" indent="-6413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DFDFD"/>
              </a:buClr>
              <a:buSzPct val="100000"/>
              <a:buNone/>
            </a:pPr>
            <a:endParaRPr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DFDFD"/>
              </a:buClr>
              <a:buSzPct val="100000"/>
              <a:buChar char="•"/>
            </a:pPr>
            <a:r>
              <a:rPr lang="pt-BR"/>
              <a:t>Os </a:t>
            </a:r>
            <a:r>
              <a:rPr lang="pt-BR">
                <a:solidFill>
                  <a:srgbClr val="EA4E4D"/>
                </a:solidFill>
              </a:rPr>
              <a:t>algoritmos de regressão </a:t>
            </a:r>
            <a:r>
              <a:rPr lang="pt-BR"/>
              <a:t>são aqueles cuja variável alvo que se pretende predizer é </a:t>
            </a:r>
            <a:r>
              <a:rPr lang="pt-BR">
                <a:solidFill>
                  <a:srgbClr val="EA4E4D"/>
                </a:solidFill>
              </a:rPr>
              <a:t>numérica</a:t>
            </a:r>
            <a:r>
              <a:rPr lang="pt-BR"/>
              <a:t>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A4E4D"/>
              </a:buClr>
              <a:buSzPts val="4400"/>
              <a:buFont typeface="Oswald"/>
              <a:buNone/>
            </a:pPr>
            <a:r>
              <a:rPr lang="pt-BR"/>
              <a:t>Aprendizado Supervisionado - Regressão</a:t>
            </a:r>
            <a:endParaRPr/>
          </a:p>
        </p:txBody>
      </p:sp>
      <p:graphicFrame>
        <p:nvGraphicFramePr>
          <p:cNvPr id="88" name="Google Shape;88;p6"/>
          <p:cNvGraphicFramePr/>
          <p:nvPr/>
        </p:nvGraphicFramePr>
        <p:xfrm>
          <a:off x="422563" y="3578607"/>
          <a:ext cx="5479675" cy="2027440"/>
        </p:xfrm>
        <a:graphic>
          <a:graphicData uri="http://schemas.openxmlformats.org/drawingml/2006/table">
            <a:tbl>
              <a:tblPr>
                <a:noFill/>
                <a:tableStyleId>{74CFF7F2-A788-4970-8986-74AD33A210EB}</a:tableStyleId>
              </a:tblPr>
              <a:tblGrid>
                <a:gridCol w="919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5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8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2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30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4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b="1" u="none" strike="noStrike" cap="none"/>
                        <a:t>Índice da linha</a:t>
                      </a:r>
                      <a:endParaRPr sz="16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450" marR="8450" marT="84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b="1" u="none" strike="noStrike" cap="none"/>
                        <a:t>x1</a:t>
                      </a:r>
                      <a:endParaRPr sz="16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450" marR="8450" marT="84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b="1" u="none" strike="noStrike" cap="none"/>
                        <a:t>x2</a:t>
                      </a:r>
                      <a:endParaRPr sz="16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450" marR="8450" marT="845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b="1" u="none" strike="noStrike" cap="none"/>
                        <a:t>...</a:t>
                      </a:r>
                      <a:endParaRPr sz="16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450" marR="8450" marT="8450" marB="0" anchor="ctr">
                    <a:solidFill>
                      <a:srgbClr val="00B0F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b="1" u="none" strike="noStrike" cap="none"/>
                        <a:t>xn</a:t>
                      </a:r>
                      <a:endParaRPr sz="16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450" marR="8450" marT="8450" marB="0" anchor="ctr"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b="1" u="none" strike="noStrike" cap="none"/>
                        <a:t>y</a:t>
                      </a:r>
                      <a:endParaRPr sz="16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450" marR="8450" marT="8450" marB="0"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strike="noStrike" cap="none"/>
                        <a:t>1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450" marR="8450" marT="84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strike="noStrike" cap="none"/>
                        <a:t>9.42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450" marR="8450" marT="84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strike="noStrike" cap="none"/>
                        <a:t>-9789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450" marR="8450" marT="8450" marB="0" anchor="ctr"/>
                </a:tc>
                <a:tc row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strike="noStrike" cap="none"/>
                        <a:t>...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500" marR="101500" marT="50750" marB="5075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strike="noStrike" cap="none"/>
                        <a:t>0.4875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450" marR="8450" marT="845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300</a:t>
                      </a:r>
                      <a:endParaRPr sz="1400" u="none" strike="noStrike" cap="none"/>
                    </a:p>
                  </a:txBody>
                  <a:tcPr marL="8450" marR="8450" marT="845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strike="noStrike" cap="none"/>
                        <a:t>2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450" marR="8450" marT="84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strike="noStrike" cap="none"/>
                        <a:t>6.5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450" marR="8450" marT="84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strike="noStrike" cap="none"/>
                        <a:t>-10235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450" marR="8450" marT="845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strike="noStrike" cap="none"/>
                        <a:t>-0.358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450" marR="8450" marT="845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</a:t>
                      </a:r>
                      <a:endParaRPr sz="1400" u="none" strike="noStrike" cap="none"/>
                    </a:p>
                  </a:txBody>
                  <a:tcPr marL="8450" marR="8450" marT="845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strike="noStrike" cap="none"/>
                        <a:t>3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450" marR="8450" marT="84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strike="noStrike" cap="none"/>
                        <a:t>12.14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450" marR="8450" marT="84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strike="noStrike" cap="none"/>
                        <a:t>-1031858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450" marR="8450" marT="845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strike="noStrike" cap="none"/>
                        <a:t>-0.1458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450" marR="8450" marT="845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230</a:t>
                      </a:r>
                      <a:endParaRPr sz="1400" u="none" strike="noStrike" cap="none"/>
                    </a:p>
                  </a:txBody>
                  <a:tcPr marL="8450" marR="8450" marT="845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strike="noStrike" cap="none"/>
                        <a:t>...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450" marR="8450" marT="8450" marB="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strike="noStrike" cap="none"/>
                        <a:t>...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01500" marR="101500" marT="50750" marB="5075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strike="noStrike" cap="none"/>
                        <a:t>...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450" marR="8450" marT="845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strike="noStrike" cap="none"/>
                        <a:t>k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450" marR="8450" marT="84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3.47</a:t>
                      </a:r>
                      <a:endParaRPr sz="1400" u="none" strike="noStrike" cap="none"/>
                    </a:p>
                  </a:txBody>
                  <a:tcPr marL="8450" marR="8450" marT="84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strike="noStrike" cap="none"/>
                        <a:t>-20000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450" marR="8450" marT="845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strike="noStrike" cap="none"/>
                        <a:t>1.054</a:t>
                      </a:r>
                      <a:endParaRPr sz="16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450" marR="8450" marT="8450" marB="0" anchor="ctr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127</a:t>
                      </a:r>
                      <a:endParaRPr sz="1400" u="none" strike="noStrike" cap="none"/>
                    </a:p>
                  </a:txBody>
                  <a:tcPr marL="8450" marR="8450" marT="845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89" name="Google Shape;89;p6"/>
          <p:cNvGrpSpPr/>
          <p:nvPr/>
        </p:nvGrpSpPr>
        <p:grpSpPr>
          <a:xfrm>
            <a:off x="1632142" y="1690688"/>
            <a:ext cx="4770268" cy="1886794"/>
            <a:chOff x="2884794" y="1354674"/>
            <a:chExt cx="4770268" cy="1886794"/>
          </a:xfrm>
        </p:grpSpPr>
        <p:sp>
          <p:nvSpPr>
            <p:cNvPr id="90" name="Google Shape;90;p6"/>
            <p:cNvSpPr txBox="1"/>
            <p:nvPr/>
          </p:nvSpPr>
          <p:spPr>
            <a:xfrm>
              <a:off x="4713127" y="1354674"/>
              <a:ext cx="2160239" cy="461665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l="-2541" r="-3104" b="-19999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pt-BR" sz="1800" b="0" i="0" u="none" strike="noStrike" cap="non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 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" name="Google Shape;91;p6"/>
            <p:cNvGrpSpPr/>
            <p:nvPr/>
          </p:nvGrpSpPr>
          <p:grpSpPr>
            <a:xfrm>
              <a:off x="2884794" y="1922080"/>
              <a:ext cx="4770268" cy="1319388"/>
              <a:chOff x="2884794" y="1922080"/>
              <a:chExt cx="4770268" cy="1319388"/>
            </a:xfrm>
          </p:grpSpPr>
          <p:sp>
            <p:nvSpPr>
              <p:cNvPr id="92" name="Google Shape;92;p6"/>
              <p:cNvSpPr/>
              <p:nvPr/>
            </p:nvSpPr>
            <p:spPr>
              <a:xfrm>
                <a:off x="2884794" y="3075696"/>
                <a:ext cx="3110350" cy="144017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lt1"/>
              </a:solidFill>
              <a:ln w="12700" cap="flat" cmpd="sng">
                <a:solidFill>
                  <a:schemeClr val="l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93" name="Google Shape;93;p6"/>
              <p:cNvSpPr txBox="1"/>
              <p:nvPr/>
            </p:nvSpPr>
            <p:spPr>
              <a:xfrm>
                <a:off x="3331592" y="2618424"/>
                <a:ext cx="228600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pt-BR" sz="1800" b="0" i="0" u="none" strike="noStrike" cap="none">
                    <a:solidFill>
                      <a:srgbClr val="F0094D"/>
                    </a:solidFill>
                    <a:latin typeface="Roboto"/>
                    <a:ea typeface="Roboto"/>
                    <a:cs typeface="Roboto"/>
                    <a:sym typeface="Roboto"/>
                  </a:rPr>
                  <a:t>Atributos descritivos </a:t>
                </a:r>
                <a:endParaRPr sz="18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94" name="Google Shape;94;p6"/>
              <p:cNvSpPr txBox="1"/>
              <p:nvPr/>
            </p:nvSpPr>
            <p:spPr>
              <a:xfrm>
                <a:off x="6143638" y="2664351"/>
                <a:ext cx="151142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pt-BR" sz="1800" b="0" i="0" u="none" strike="noStrike" cap="none">
                    <a:solidFill>
                      <a:srgbClr val="F0094D"/>
                    </a:solidFill>
                    <a:latin typeface="Roboto"/>
                    <a:ea typeface="Roboto"/>
                    <a:cs typeface="Roboto"/>
                    <a:sym typeface="Roboto"/>
                  </a:rPr>
                  <a:t>Atributo alvo </a:t>
                </a:r>
                <a:endParaRPr sz="18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95" name="Google Shape;95;p6"/>
              <p:cNvSpPr/>
              <p:nvPr/>
            </p:nvSpPr>
            <p:spPr>
              <a:xfrm>
                <a:off x="6643216" y="3097452"/>
                <a:ext cx="351656" cy="144016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lt1"/>
              </a:solidFill>
              <a:ln w="12700" cap="flat" cmpd="sng">
                <a:solidFill>
                  <a:schemeClr val="l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96" name="Google Shape;96;p6"/>
              <p:cNvSpPr/>
              <p:nvPr/>
            </p:nvSpPr>
            <p:spPr>
              <a:xfrm>
                <a:off x="4510394" y="1922080"/>
                <a:ext cx="2420854" cy="546971"/>
              </a:xfrm>
              <a:prstGeom prst="curvedDownArrow">
                <a:avLst>
                  <a:gd name="adj1" fmla="val 25000"/>
                  <a:gd name="adj2" fmla="val 50000"/>
                  <a:gd name="adj3" fmla="val 25000"/>
                </a:avLst>
              </a:prstGeom>
              <a:solidFill>
                <a:srgbClr val="F009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pic>
        <p:nvPicPr>
          <p:cNvPr id="97" name="Google Shape;97;p6"/>
          <p:cNvPicPr preferRelativeResize="0"/>
          <p:nvPr/>
        </p:nvPicPr>
        <p:blipFill rotWithShape="1">
          <a:blip r:embed="rId4">
            <a:alphaModFix/>
          </a:blip>
          <a:srcRect r="3343"/>
          <a:stretch/>
        </p:blipFill>
        <p:spPr>
          <a:xfrm>
            <a:off x="7405962" y="1362300"/>
            <a:ext cx="3149701" cy="254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05950" y="4163200"/>
            <a:ext cx="3249825" cy="258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41430282c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A4E4D"/>
              </a:buClr>
              <a:buSzPts val="4400"/>
              <a:buFont typeface="Oswald"/>
              <a:buNone/>
            </a:pPr>
            <a:r>
              <a:rPr lang="pt-BR"/>
              <a:t>Ciclo de um Projeto de IA</a:t>
            </a:r>
            <a:endParaRPr/>
          </a:p>
        </p:txBody>
      </p:sp>
      <p:pic>
        <p:nvPicPr>
          <p:cNvPr id="104" name="Google Shape;104;g3f41430282c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375" y="1577100"/>
            <a:ext cx="6671999" cy="503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e918432eb_0_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6000"/>
              <a:buFont typeface="Oswald"/>
              <a:buNone/>
            </a:pPr>
            <a:r>
              <a:rPr lang="pt-BR"/>
              <a:t>Cases</a:t>
            </a:r>
            <a:endParaRPr/>
          </a:p>
        </p:txBody>
      </p:sp>
      <p:sp>
        <p:nvSpPr>
          <p:cNvPr id="110" name="Google Shape;110;g37e918432eb_0_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pt-BR"/>
              <a:t>Exemplo de aplicações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7e918432eb_0_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A4E4D"/>
              </a:buClr>
              <a:buSzPts val="4400"/>
              <a:buFont typeface="Oswald"/>
              <a:buNone/>
            </a:pPr>
            <a:r>
              <a:rPr lang="pt-BR"/>
              <a:t>Walmart</a:t>
            </a:r>
            <a:endParaRPr/>
          </a:p>
        </p:txBody>
      </p:sp>
      <p:sp>
        <p:nvSpPr>
          <p:cNvPr id="116" name="Google Shape;116;g37e918432eb_0_6"/>
          <p:cNvSpPr txBox="1">
            <a:spLocks noGrp="1"/>
          </p:cNvSpPr>
          <p:nvPr>
            <p:ph type="body" idx="1"/>
          </p:nvPr>
        </p:nvSpPr>
        <p:spPr>
          <a:xfrm>
            <a:off x="641650" y="1690825"/>
            <a:ext cx="58923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42857"/>
              <a:buNone/>
            </a:pPr>
            <a:r>
              <a:rPr lang="pt-BR"/>
              <a:t>Problema: o Walmart precisava prever a demanda de produtos sazonais e de alto giro para reduzir ruptura de estoque e excesso de inventário.</a:t>
            </a:r>
            <a:br>
              <a:rPr lang="pt-BR"/>
            </a:b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42857"/>
              <a:buNone/>
            </a:pPr>
            <a:r>
              <a:rPr lang="pt-BR"/>
              <a:t>Solução: usou Regressão Linear Múltipla e Regressão Polinomial para relacionar variáveis como preço, promoções, datas comemorativas e clima às vendas esperadas.</a:t>
            </a:r>
            <a:br>
              <a:rPr lang="pt-BR"/>
            </a:b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42857"/>
              <a:buNone/>
            </a:pPr>
            <a:r>
              <a:rPr lang="pt-BR"/>
              <a:t>Resultado:</a:t>
            </a:r>
            <a:endParaRPr/>
          </a:p>
          <a:p>
            <a:pPr marL="457200" lvl="0" indent="-353102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94230"/>
              <a:buChar char="•"/>
            </a:pPr>
            <a:r>
              <a:rPr lang="pt-BR" sz="2971">
                <a:solidFill>
                  <a:srgbClr val="EA4E4D"/>
                </a:solidFill>
                <a:latin typeface="Oswald"/>
                <a:ea typeface="Oswald"/>
                <a:cs typeface="Oswald"/>
                <a:sym typeface="Oswald"/>
              </a:rPr>
              <a:t>Redução de 15%</a:t>
            </a:r>
            <a:r>
              <a:rPr lang="pt-BR"/>
              <a:t> em perdas por excesso de estoque.</a:t>
            </a:r>
            <a:br>
              <a:rPr lang="pt-BR"/>
            </a:br>
            <a:endParaRPr/>
          </a:p>
          <a:p>
            <a:pPr marL="457200" lvl="0" indent="-35306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989"/>
              <a:buChar char="•"/>
            </a:pPr>
            <a:r>
              <a:rPr lang="pt-BR"/>
              <a:t>Aumento da disponibilidade de produtos nas prateleiras, melhorando a experiência do cliente.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42857"/>
              <a:buNone/>
            </a:pPr>
            <a:endParaRPr/>
          </a:p>
        </p:txBody>
      </p:sp>
      <p:pic>
        <p:nvPicPr>
          <p:cNvPr id="117" name="Google Shape;117;g37e918432eb_0_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75850" y="1690825"/>
            <a:ext cx="4819851" cy="3614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7e918432eb_0_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A4E4D"/>
              </a:buClr>
              <a:buSzPts val="4400"/>
              <a:buFont typeface="Oswald"/>
              <a:buNone/>
            </a:pPr>
            <a:r>
              <a:rPr lang="pt-BR"/>
              <a:t>Uber</a:t>
            </a:r>
            <a:endParaRPr/>
          </a:p>
        </p:txBody>
      </p:sp>
      <p:sp>
        <p:nvSpPr>
          <p:cNvPr id="123" name="Google Shape;123;g37e918432eb_0_16"/>
          <p:cNvSpPr txBox="1">
            <a:spLocks noGrp="1"/>
          </p:cNvSpPr>
          <p:nvPr>
            <p:ph type="body" idx="1"/>
          </p:nvPr>
        </p:nvSpPr>
        <p:spPr>
          <a:xfrm>
            <a:off x="5782150" y="1615250"/>
            <a:ext cx="58923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17647"/>
              <a:buNone/>
            </a:pPr>
            <a:r>
              <a:rPr lang="pt-BR"/>
              <a:t>Problema: precificação dinâmica (surge pricing). A empresa precisava ajustar tarifas em tempo real com base em demanda e oferta de motoristas.</a:t>
            </a:r>
            <a:br>
              <a:rPr lang="pt-BR"/>
            </a:b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17647"/>
              <a:buNone/>
            </a:pPr>
            <a:r>
              <a:rPr lang="pt-BR"/>
              <a:t>Solução: aplicou Regressão Linear para modelar a probabilidade de aceitação de corridas, levando em conta localização, horário, tempo de espera e clima.</a:t>
            </a:r>
            <a:br>
              <a:rPr lang="pt-BR"/>
            </a:b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17647"/>
              <a:buNone/>
            </a:pPr>
            <a:r>
              <a:rPr lang="pt-BR"/>
              <a:t>Resultado:</a:t>
            </a:r>
            <a:endParaRPr/>
          </a:p>
          <a:p>
            <a:pPr marL="457200" lvl="0" indent="-379751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94230"/>
              <a:buChar char="•"/>
            </a:pPr>
            <a:r>
              <a:rPr lang="pt-BR" sz="2971">
                <a:solidFill>
                  <a:srgbClr val="EA4E4D"/>
                </a:solidFill>
                <a:latin typeface="Oswald"/>
                <a:ea typeface="Oswald"/>
                <a:cs typeface="Oswald"/>
                <a:sym typeface="Oswald"/>
              </a:rPr>
              <a:t>Aumento no faturamento em 8%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17647"/>
              <a:buNone/>
            </a:pPr>
            <a:endParaRPr/>
          </a:p>
        </p:txBody>
      </p:sp>
      <p:pic>
        <p:nvPicPr>
          <p:cNvPr id="124" name="Google Shape;124;g37e918432eb_0_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0525" y="1669187"/>
            <a:ext cx="5279449" cy="3519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e918432eb_0_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A4E4D"/>
              </a:buClr>
              <a:buSzPts val="4400"/>
              <a:buFont typeface="Oswald"/>
              <a:buNone/>
            </a:pPr>
            <a:r>
              <a:rPr lang="pt-BR"/>
              <a:t>Zillow</a:t>
            </a:r>
            <a:endParaRPr/>
          </a:p>
        </p:txBody>
      </p:sp>
      <p:sp>
        <p:nvSpPr>
          <p:cNvPr id="130" name="Google Shape;130;g37e918432eb_0_26"/>
          <p:cNvSpPr txBox="1">
            <a:spLocks noGrp="1"/>
          </p:cNvSpPr>
          <p:nvPr>
            <p:ph type="body" idx="1"/>
          </p:nvPr>
        </p:nvSpPr>
        <p:spPr>
          <a:xfrm>
            <a:off x="626525" y="1585000"/>
            <a:ext cx="58923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29032"/>
              <a:buNone/>
            </a:pPr>
            <a:r>
              <a:rPr lang="pt-BR"/>
              <a:t>Problema: Estimar o valor de mercado de ímovel residencial nos EUA</a:t>
            </a:r>
            <a:br>
              <a:rPr lang="pt-BR"/>
            </a:b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29032"/>
              <a:buNone/>
            </a:pPr>
            <a:r>
              <a:rPr lang="pt-BR"/>
              <a:t>Solução: usou Regressão Linear Múltipla com seguinte variáveis (m², idade construção, localização, etc).</a:t>
            </a:r>
            <a:br>
              <a:rPr lang="pt-BR"/>
            </a:b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29032"/>
              <a:buNone/>
            </a:pPr>
            <a:r>
              <a:rPr lang="pt-BR"/>
              <a:t>Resultado:</a:t>
            </a:r>
            <a:br>
              <a:rPr lang="pt-BR"/>
            </a:br>
            <a:endParaRPr/>
          </a:p>
          <a:p>
            <a:pPr marL="457200" lvl="0" indent="-36639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pt-BR"/>
              <a:t>Criação do famoso Zestimate (estimador de preço de imóveis).</a:t>
            </a:r>
            <a:endParaRPr/>
          </a:p>
          <a:p>
            <a:pPr marL="4572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29032"/>
              <a:buNone/>
            </a:pPr>
            <a:endParaRPr/>
          </a:p>
          <a:p>
            <a:pPr marL="457200" lvl="0" indent="-36639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pt-BR"/>
              <a:t>Tornou-se referência para compradores e vendedores, 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29032"/>
              <a:buNone/>
            </a:pPr>
            <a:endParaRPr/>
          </a:p>
        </p:txBody>
      </p:sp>
      <p:pic>
        <p:nvPicPr>
          <p:cNvPr id="131" name="Google Shape;131;g37e918432eb_0_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91125" y="1585000"/>
            <a:ext cx="4062675" cy="406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6000"/>
              <a:buFont typeface="Oswald"/>
              <a:buNone/>
            </a:pPr>
            <a:r>
              <a:rPr lang="pt-BR"/>
              <a:t>Algoritmos de Regressão</a:t>
            </a:r>
            <a:endParaRPr/>
          </a:p>
        </p:txBody>
      </p:sp>
      <p:sp>
        <p:nvSpPr>
          <p:cNvPr id="137" name="Google Shape;137;p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pt-BR"/>
              <a:t>Tipos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e918432eb_0_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A4E4D"/>
              </a:buClr>
              <a:buSzPts val="4400"/>
              <a:buFont typeface="Oswald"/>
              <a:buNone/>
            </a:pPr>
            <a:r>
              <a:rPr lang="pt-BR"/>
              <a:t>Regressão Linear</a:t>
            </a:r>
            <a:endParaRPr/>
          </a:p>
        </p:txBody>
      </p:sp>
      <p:sp>
        <p:nvSpPr>
          <p:cNvPr id="143" name="Google Shape;143;g37e918432eb_0_44"/>
          <p:cNvSpPr txBox="1">
            <a:spLocks noGrp="1"/>
          </p:cNvSpPr>
          <p:nvPr>
            <p:ph type="body" idx="1"/>
          </p:nvPr>
        </p:nvSpPr>
        <p:spPr>
          <a:xfrm>
            <a:off x="626525" y="1585000"/>
            <a:ext cx="5224200" cy="48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60000"/>
              <a:buNone/>
            </a:pPr>
            <a:r>
              <a:rPr lang="pt-BR"/>
              <a:t>Descrição: 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60000"/>
              <a:buNone/>
            </a:pPr>
            <a:r>
              <a:rPr lang="pt-BR"/>
              <a:t>Algoritmo que assume relação linear das variáveis de entrada com a variável target preditora, atraves da seguinte equação Valor Preditor (Y) = a.x + b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60000"/>
              <a:buNone/>
            </a:pP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60000"/>
              <a:buNone/>
            </a:pPr>
            <a:r>
              <a:rPr lang="pt-BR"/>
              <a:t>Vantagens: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60000"/>
              <a:buNone/>
            </a:pPr>
            <a:r>
              <a:rPr lang="pt-BR"/>
              <a:t>Simples implementação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60000"/>
              <a:buNone/>
            </a:pPr>
            <a:r>
              <a:rPr lang="pt-BR"/>
              <a:t>Simples interpretação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60000"/>
              <a:buNone/>
            </a:pPr>
            <a:r>
              <a:rPr lang="pt-BR"/>
              <a:t>Bom para dados que tem relações lineares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60000"/>
              <a:buNone/>
            </a:pP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60000"/>
              <a:buNone/>
            </a:pP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60000"/>
              <a:buNone/>
            </a:pPr>
            <a:r>
              <a:rPr lang="pt-BR"/>
              <a:t>Desvantagens: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60000"/>
              <a:buNone/>
            </a:pPr>
            <a:r>
              <a:rPr lang="pt-BR"/>
              <a:t>Sempre assuma a relação Linear entre as variaveis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60000"/>
              <a:buNone/>
            </a:pPr>
            <a:r>
              <a:rPr lang="pt-BR"/>
              <a:t>Senseis a outlieres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60000"/>
              <a:buNone/>
            </a:pPr>
            <a:r>
              <a:rPr lang="pt-BR"/>
              <a:t>Não caputra padrões não lineares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60000"/>
              <a:buNone/>
            </a:pPr>
            <a:endParaRPr/>
          </a:p>
        </p:txBody>
      </p:sp>
      <p:pic>
        <p:nvPicPr>
          <p:cNvPr id="144" name="Google Shape;144;g37e918432eb_0_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86925" y="1508200"/>
            <a:ext cx="5777725" cy="26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37e918432eb_0_44"/>
          <p:cNvSpPr txBox="1">
            <a:spLocks noGrp="1"/>
          </p:cNvSpPr>
          <p:nvPr>
            <p:ph type="body" idx="1"/>
          </p:nvPr>
        </p:nvSpPr>
        <p:spPr>
          <a:xfrm>
            <a:off x="6268850" y="4480975"/>
            <a:ext cx="4069800" cy="21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81818"/>
              <a:buNone/>
            </a:pPr>
            <a:r>
              <a:rPr lang="pt-BR"/>
              <a:t>Valor Preditor (Y) = a.x + b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81818"/>
              <a:buNone/>
            </a:pP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81818"/>
              <a:buNone/>
            </a:pPr>
            <a:r>
              <a:rPr lang="pt-BR"/>
              <a:t>Onde: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81818"/>
              <a:buNone/>
            </a:pPr>
            <a:r>
              <a:rPr lang="pt-BR"/>
              <a:t>a= Coeficiente da reta ou peso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81818"/>
              <a:buNone/>
            </a:pPr>
            <a:r>
              <a:rPr lang="pt-BR"/>
              <a:t>b= Coeficiente de interseção do Eixo Y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81818"/>
              <a:buNone/>
            </a:pP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81818"/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e918432eb_0_7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A4E4D"/>
              </a:buClr>
              <a:buSzPts val="4400"/>
              <a:buFont typeface="Oswald"/>
              <a:buNone/>
            </a:pPr>
            <a:r>
              <a:rPr lang="pt-BR"/>
              <a:t>Regressão Linear</a:t>
            </a:r>
            <a:endParaRPr/>
          </a:p>
        </p:txBody>
      </p:sp>
      <p:pic>
        <p:nvPicPr>
          <p:cNvPr id="151" name="Google Shape;151;g37e918432eb_0_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2653" y="1886677"/>
            <a:ext cx="4550002" cy="367279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7e918432eb_0_70"/>
          <p:cNvSpPr txBox="1">
            <a:spLocks noGrp="1"/>
          </p:cNvSpPr>
          <p:nvPr>
            <p:ph type="body" idx="1"/>
          </p:nvPr>
        </p:nvSpPr>
        <p:spPr>
          <a:xfrm>
            <a:off x="5661175" y="1886675"/>
            <a:ext cx="5892300" cy="33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pt-BR"/>
              <a:t>Busca melhor assertividade</a:t>
            </a:r>
            <a:endParaRPr/>
          </a:p>
          <a:p>
            <a:pPr marL="4572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/>
          </a:p>
          <a:p>
            <a:pPr marL="457200" lvl="0" indent="-4064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pt-BR"/>
              <a:t>Menor erro</a:t>
            </a:r>
            <a:endParaRPr/>
          </a:p>
          <a:p>
            <a:pPr marL="4572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/>
          </a:p>
          <a:p>
            <a:pPr marL="457200" lvl="0" indent="-4064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pt-BR"/>
              <a:t>Erro = y - yat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7e918432eb_0_1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A4E4D"/>
              </a:buClr>
              <a:buSzPts val="4400"/>
              <a:buFont typeface="Oswald"/>
              <a:buNone/>
            </a:pPr>
            <a:r>
              <a:rPr lang="pt-BR"/>
              <a:t>Regressão Polinomial</a:t>
            </a:r>
            <a:endParaRPr/>
          </a:p>
        </p:txBody>
      </p:sp>
      <p:sp>
        <p:nvSpPr>
          <p:cNvPr id="158" name="Google Shape;158;g37e918432eb_0_126"/>
          <p:cNvSpPr txBox="1">
            <a:spLocks noGrp="1"/>
          </p:cNvSpPr>
          <p:nvPr>
            <p:ph type="body" idx="1"/>
          </p:nvPr>
        </p:nvSpPr>
        <p:spPr>
          <a:xfrm>
            <a:off x="626525" y="1585000"/>
            <a:ext cx="5460300" cy="50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7500" lnSpcReduction="10000"/>
          </a:bodyPr>
          <a:lstStyle/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210526"/>
              <a:buNone/>
            </a:pPr>
            <a:r>
              <a:rPr lang="pt-BR"/>
              <a:t>Descrição: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pt-BR"/>
              <a:t>Algoritmo que estende a regressão linear, adicionando termos polinomiais (x², x³, …) às variáveis de entrada, permitindo capturar relações não lineares com a variável target preditora.</a:t>
            </a:r>
            <a:br>
              <a:rPr lang="pt-BR"/>
            </a:br>
            <a:r>
              <a:rPr lang="pt-BR"/>
              <a:t> Equação geral: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210526"/>
              <a:buNone/>
            </a:pPr>
            <a:r>
              <a:rPr lang="pt-BR"/>
              <a:t>Y=a0+a1x+a2x2+a3x3+⋯+anxnY = a_0 + a_1x + a_2x^2 + a_3x^3 + \dots + a_nx^nY=a0​+a1​x+a2​x2+a3​x3+⋯+an​xn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210526"/>
              <a:buNone/>
            </a:pP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210526"/>
              <a:buNone/>
            </a:pPr>
            <a:r>
              <a:rPr lang="pt-BR"/>
              <a:t>Vantagens: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210526"/>
              <a:buNone/>
            </a:pPr>
            <a:r>
              <a:rPr lang="pt-BR"/>
              <a:t>Captura relações não lineares entre variáveis.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210526"/>
              <a:buNone/>
            </a:pPr>
            <a:r>
              <a:rPr lang="pt-BR"/>
              <a:t>Flexível: pode se ajustar a diferentes formas de curva.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210526"/>
              <a:buNone/>
            </a:pPr>
            <a:r>
              <a:rPr lang="pt-BR"/>
              <a:t>Útil quando a relação entre variáveis não é bem representada por uma linha reta.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210526"/>
              <a:buNone/>
            </a:pP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210526"/>
              <a:buNone/>
            </a:pPr>
            <a:r>
              <a:rPr lang="pt-BR"/>
              <a:t>Desvantagens: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210526"/>
              <a:buNone/>
            </a:pPr>
            <a:r>
              <a:rPr lang="pt-BR"/>
              <a:t>Maior Sensebilidade a outlieres e overfit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210526"/>
              <a:buNone/>
            </a:pPr>
            <a:r>
              <a:rPr lang="pt-BR"/>
              <a:t>Modelo mais complexos para interpretação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210526"/>
              <a:buNone/>
            </a:pPr>
            <a:endParaRPr/>
          </a:p>
        </p:txBody>
      </p:sp>
      <p:sp>
        <p:nvSpPr>
          <p:cNvPr id="159" name="Google Shape;159;g37e918432eb_0_126"/>
          <p:cNvSpPr txBox="1">
            <a:spLocks noGrp="1"/>
          </p:cNvSpPr>
          <p:nvPr>
            <p:ph type="body" idx="1"/>
          </p:nvPr>
        </p:nvSpPr>
        <p:spPr>
          <a:xfrm>
            <a:off x="6639325" y="4480975"/>
            <a:ext cx="5089800" cy="21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60000"/>
              <a:buNone/>
            </a:pPr>
            <a:r>
              <a:rPr lang="pt-BR"/>
              <a:t>Valor Preditor 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60000"/>
              <a:buNone/>
            </a:pP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60000"/>
              <a:buNone/>
            </a:pPr>
            <a:r>
              <a:rPr lang="pt-BR"/>
              <a:t>Y=a0+a1x+a2x2+a3x3+⋯+anxnY = a_0 + a_1x + a_2x^2 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60000"/>
              <a:buNone/>
            </a:pP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60000"/>
              <a:buNone/>
            </a:pP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60000"/>
              <a:buNone/>
            </a:pPr>
            <a:endParaRPr/>
          </a:p>
        </p:txBody>
      </p:sp>
      <p:pic>
        <p:nvPicPr>
          <p:cNvPr id="160" name="Google Shape;160;g37e918432eb_0_126"/>
          <p:cNvPicPr preferRelativeResize="0"/>
          <p:nvPr/>
        </p:nvPicPr>
        <p:blipFill rotWithShape="1">
          <a:blip r:embed="rId3">
            <a:alphaModFix/>
          </a:blip>
          <a:srcRect r="3344"/>
          <a:stretch/>
        </p:blipFill>
        <p:spPr>
          <a:xfrm>
            <a:off x="7162373" y="1162600"/>
            <a:ext cx="3673250" cy="296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7e918432eb_0_5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A4E4D"/>
              </a:buClr>
              <a:buSzPts val="4400"/>
              <a:buFont typeface="Oswald"/>
              <a:buNone/>
            </a:pPr>
            <a:r>
              <a:rPr lang="pt-BR"/>
              <a:t>Árvore de Decisão</a:t>
            </a:r>
            <a:endParaRPr/>
          </a:p>
        </p:txBody>
      </p:sp>
      <p:sp>
        <p:nvSpPr>
          <p:cNvPr id="166" name="Google Shape;166;g37e918432eb_0_55"/>
          <p:cNvSpPr txBox="1">
            <a:spLocks noGrp="1"/>
          </p:cNvSpPr>
          <p:nvPr>
            <p:ph type="body" idx="1"/>
          </p:nvPr>
        </p:nvSpPr>
        <p:spPr>
          <a:xfrm>
            <a:off x="626525" y="1585000"/>
            <a:ext cx="52392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81818"/>
              <a:buNone/>
            </a:pPr>
            <a:r>
              <a:rPr lang="pt-BR"/>
              <a:t>Descrição: 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pt-BR"/>
              <a:t>Algoritmo que utiliza uma estrutura em forma de árvore para prever valores contínuos. Ele divide os dados em subconjuntos com base em condições lógicas das variáveis de entrada, até chegar a folhas que representam a predição do valor alvo.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pt-BR"/>
              <a:t>Vantagens: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pt-BR"/>
              <a:t>Captura tendencia não linear dos dados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pt-BR"/>
              <a:t>Facil interpretação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pt-BR"/>
              <a:t>Não exige normalização e padronização dos dados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pt-BR"/>
              <a:t>Desvantagens: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pt-BR"/>
              <a:t>Tendência a overfit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81818"/>
              <a:buNone/>
            </a:pP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81818"/>
              <a:buNone/>
            </a:pPr>
            <a:endParaRPr/>
          </a:p>
        </p:txBody>
      </p:sp>
      <p:pic>
        <p:nvPicPr>
          <p:cNvPr id="167" name="Google Shape;167;g37e918432eb_0_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18825" y="1843225"/>
            <a:ext cx="5368374" cy="35789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7e918432eb_0_6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A4E4D"/>
              </a:buClr>
              <a:buSzPts val="4400"/>
              <a:buFont typeface="Oswald"/>
              <a:buNone/>
            </a:pPr>
            <a:r>
              <a:rPr lang="pt-BR"/>
              <a:t>KNN</a:t>
            </a:r>
            <a:endParaRPr/>
          </a:p>
        </p:txBody>
      </p:sp>
      <p:sp>
        <p:nvSpPr>
          <p:cNvPr id="173" name="Google Shape;173;g37e918432eb_0_60"/>
          <p:cNvSpPr txBox="1">
            <a:spLocks noGrp="1"/>
          </p:cNvSpPr>
          <p:nvPr>
            <p:ph type="body" idx="1"/>
          </p:nvPr>
        </p:nvSpPr>
        <p:spPr>
          <a:xfrm>
            <a:off x="626525" y="1585000"/>
            <a:ext cx="56064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60000"/>
              <a:buNone/>
            </a:pPr>
            <a:r>
              <a:rPr lang="pt-BR"/>
              <a:t>Descrição:Algoritmo que prediz o valor da variável alvo considerando a média (ou mediana) dos valores das K instâncias mais próximas no espaço das variáveis de entrada. A proximidade é definida por uma métrica de distância (ex.: Euclidiana).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60000"/>
              <a:buNone/>
            </a:pP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60000"/>
              <a:buNone/>
            </a:pPr>
            <a:r>
              <a:rPr lang="pt-BR"/>
              <a:t>Vantagens: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60000"/>
              <a:buNone/>
            </a:pPr>
            <a:r>
              <a:rPr lang="pt-BR"/>
              <a:t>Bom para problemas com relações não lineares.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60000"/>
              <a:buNone/>
            </a:pPr>
            <a:r>
              <a:rPr lang="pt-BR"/>
              <a:t>Simples de entender e implementar.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60000"/>
              <a:buNone/>
            </a:pP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60000"/>
              <a:buNone/>
            </a:pPr>
            <a:r>
              <a:rPr lang="pt-BR"/>
              <a:t>Desvantagens: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60000"/>
              <a:buNone/>
            </a:pPr>
            <a:r>
              <a:rPr lang="pt-BR"/>
              <a:t>Sensível à escolha do valor de K.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60000"/>
              <a:buNone/>
            </a:pPr>
            <a:r>
              <a:rPr lang="pt-BR"/>
              <a:t>Sensível à escala das variáveis (necessita normalização/padronização).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pt-BR"/>
              <a:t>Pode ser afetado por ruído e outliers.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g37e918432eb_0_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94700" y="1521750"/>
            <a:ext cx="5368374" cy="4030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6000"/>
              <a:buFont typeface="Oswald"/>
              <a:buNone/>
            </a:pPr>
            <a:r>
              <a:rPr lang="pt-BR"/>
              <a:t>Algoritmos de Regressão</a:t>
            </a:r>
            <a:endParaRPr/>
          </a:p>
        </p:txBody>
      </p:sp>
      <p:sp>
        <p:nvSpPr>
          <p:cNvPr id="180" name="Google Shape;180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</a:pPr>
            <a:r>
              <a:rPr lang="pt-BR"/>
              <a:t>Estratégias para ensinar o computador a predizer valores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A4E4D"/>
              </a:buClr>
              <a:buSzPts val="4400"/>
              <a:buFont typeface="Oswald"/>
              <a:buNone/>
            </a:pPr>
            <a:r>
              <a:rPr lang="pt-BR"/>
              <a:t>Métricas de Desempenho</a:t>
            </a:r>
            <a:endParaRPr/>
          </a:p>
        </p:txBody>
      </p:sp>
      <p:sp>
        <p:nvSpPr>
          <p:cNvPr id="186" name="Google Shape;186;p9"/>
          <p:cNvSpPr txBox="1"/>
          <p:nvPr/>
        </p:nvSpPr>
        <p:spPr>
          <a:xfrm>
            <a:off x="359404" y="1429964"/>
            <a:ext cx="11473200" cy="29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rial"/>
              <a:buChar char="•"/>
            </a:pPr>
            <a:r>
              <a:rPr lang="pt-BR" sz="2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Na regressão temos dados alvo numéricos. Nossa predição é um valor. Como comparar se estamos acertando ou não?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68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endParaRPr sz="23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rial"/>
              <a:buChar char="•"/>
            </a:pPr>
            <a:r>
              <a:rPr lang="pt-BR" sz="2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Algumas métricas possíveis: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rial"/>
              <a:buChar char="-"/>
            </a:pPr>
            <a:r>
              <a:rPr lang="pt-BR" sz="2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Erro absoluto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rial"/>
              <a:buChar char="-"/>
            </a:pPr>
            <a:r>
              <a:rPr lang="pt-BR" sz="2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Erro relativo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rial"/>
              <a:buChar char="-"/>
            </a:pPr>
            <a:r>
              <a:rPr lang="pt-BR" sz="2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Erro absoluto médio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Arial"/>
              <a:buChar char="-"/>
            </a:pPr>
            <a:r>
              <a:rPr lang="pt-BR" sz="2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Erro quadrático médio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18</a:t>
            </a:fld>
            <a:r>
              <a:rPr lang="pt-BR"/>
              <a:t>/40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A4E4D"/>
              </a:buClr>
              <a:buSzPts val="4400"/>
              <a:buFont typeface="Oswald"/>
              <a:buNone/>
            </a:pPr>
            <a:r>
              <a:rPr lang="pt-BR"/>
              <a:t>Contabilizando Acertos e Erros – Função Custo</a:t>
            </a:r>
            <a:endParaRPr/>
          </a:p>
        </p:txBody>
      </p:sp>
      <p:pic>
        <p:nvPicPr>
          <p:cNvPr id="193" name="Google Shape;193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2653" y="1886677"/>
            <a:ext cx="4550002" cy="367279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0"/>
          <p:cNvSpPr txBox="1"/>
          <p:nvPr/>
        </p:nvSpPr>
        <p:spPr>
          <a:xfrm>
            <a:off x="5642517" y="2568912"/>
            <a:ext cx="5906830" cy="230832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650" t="-1845" r="-154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19</a:t>
            </a:fld>
            <a:r>
              <a:rPr lang="pt-BR"/>
              <a:t>/40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A4E4D"/>
              </a:buClr>
              <a:buSzPts val="4400"/>
              <a:buFont typeface="Oswald"/>
              <a:buNone/>
            </a:pPr>
            <a:r>
              <a:rPr lang="pt-BR"/>
              <a:t>Função Custo – Erro absoluto e Erro relativo</a:t>
            </a:r>
            <a:endParaRPr/>
          </a:p>
        </p:txBody>
      </p:sp>
      <p:sp>
        <p:nvSpPr>
          <p:cNvPr id="201" name="Google Shape;201;p11"/>
          <p:cNvSpPr txBox="1"/>
          <p:nvPr/>
        </p:nvSpPr>
        <p:spPr>
          <a:xfrm>
            <a:off x="838200" y="1690688"/>
            <a:ext cx="10515600" cy="83099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927" t="-510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715536" y="2820798"/>
            <a:ext cx="4079488" cy="1020490"/>
          </a:xfrm>
          <a:prstGeom prst="roundRect">
            <a:avLst>
              <a:gd name="adj" fmla="val 16667"/>
            </a:avLst>
          </a:prstGeom>
          <a:blipFill rotWithShape="1">
            <a:blip r:embed="rId4">
              <a:alphaModFix/>
            </a:blip>
            <a:stretch>
              <a:fillRect/>
            </a:stretch>
          </a:blipFill>
          <a:ln w="9525" cap="flat" cmpd="sng">
            <a:solidFill>
              <a:srgbClr val="EA4E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715536" y="4447905"/>
            <a:ext cx="4079488" cy="1020490"/>
          </a:xfrm>
          <a:prstGeom prst="roundRect">
            <a:avLst>
              <a:gd name="adj" fmla="val 16667"/>
            </a:avLst>
          </a:prstGeom>
          <a:blipFill rotWithShape="1">
            <a:blip r:embed="rId5">
              <a:alphaModFix/>
            </a:blip>
            <a:stretch>
              <a:fillRect/>
            </a:stretch>
          </a:blipFill>
          <a:ln w="9525" cap="flat" cmpd="sng">
            <a:solidFill>
              <a:srgbClr val="EA4E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1"/>
          <p:cNvSpPr txBox="1"/>
          <p:nvPr/>
        </p:nvSpPr>
        <p:spPr>
          <a:xfrm>
            <a:off x="5029200" y="2853791"/>
            <a:ext cx="6488151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E4D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EA4E4D"/>
                </a:solidFill>
                <a:latin typeface="Arial"/>
                <a:ea typeface="Arial"/>
                <a:cs typeface="Arial"/>
                <a:sym typeface="Arial"/>
              </a:rPr>
              <a:t>Erro absoluto</a:t>
            </a:r>
            <a:r>
              <a:rPr lang="pt-BR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onde estamos tirando o módulo da diferença.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1"/>
          <p:cNvSpPr txBox="1"/>
          <p:nvPr/>
        </p:nvSpPr>
        <p:spPr>
          <a:xfrm>
            <a:off x="5029200" y="4567147"/>
            <a:ext cx="6791093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E4D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EA4E4D"/>
                </a:solidFill>
                <a:latin typeface="Arial"/>
                <a:ea typeface="Arial"/>
                <a:cs typeface="Arial"/>
                <a:sym typeface="Arial"/>
              </a:rPr>
              <a:t>Erro relativo</a:t>
            </a:r>
            <a:r>
              <a:rPr lang="pt-BR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onde além do módulo estamos dividindo pelo valor alvo. A resposta será em %.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20</a:t>
            </a:fld>
            <a:r>
              <a:rPr lang="pt-BR"/>
              <a:t>/40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A4E4D"/>
              </a:buClr>
              <a:buSzPts val="4400"/>
              <a:buFont typeface="Oswald"/>
              <a:buNone/>
            </a:pPr>
            <a:r>
              <a:rPr lang="pt-BR"/>
              <a:t>Função Custo – Erro médio</a:t>
            </a:r>
            <a:endParaRPr/>
          </a:p>
        </p:txBody>
      </p:sp>
      <p:sp>
        <p:nvSpPr>
          <p:cNvPr id="212" name="Google Shape;212;p12"/>
          <p:cNvSpPr txBox="1"/>
          <p:nvPr/>
        </p:nvSpPr>
        <p:spPr>
          <a:xfrm>
            <a:off x="838200" y="1690688"/>
            <a:ext cx="10515600" cy="124450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927" t="-3430" r="-86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1661530" y="2779011"/>
            <a:ext cx="4079488" cy="1244508"/>
          </a:xfrm>
          <a:prstGeom prst="roundRect">
            <a:avLst>
              <a:gd name="adj" fmla="val 16667"/>
            </a:avLst>
          </a:prstGeom>
          <a:blipFill rotWithShape="1">
            <a:blip r:embed="rId4">
              <a:alphaModFix/>
            </a:blip>
            <a:stretch>
              <a:fillRect/>
            </a:stretch>
          </a:blipFill>
          <a:ln w="9525" cap="flat" cmpd="sng">
            <a:solidFill>
              <a:srgbClr val="EA4E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1661530" y="4467498"/>
            <a:ext cx="4079488" cy="1244508"/>
          </a:xfrm>
          <a:prstGeom prst="roundRect">
            <a:avLst>
              <a:gd name="adj" fmla="val 16667"/>
            </a:avLst>
          </a:prstGeom>
          <a:blipFill rotWithShape="1">
            <a:blip r:embed="rId5">
              <a:alphaModFix/>
            </a:blip>
            <a:stretch>
              <a:fillRect/>
            </a:stretch>
          </a:blipFill>
          <a:ln w="9525" cap="flat" cmpd="sng">
            <a:solidFill>
              <a:srgbClr val="EA4E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2"/>
          <p:cNvSpPr txBox="1"/>
          <p:nvPr/>
        </p:nvSpPr>
        <p:spPr>
          <a:xfrm>
            <a:off x="6203797" y="2935196"/>
            <a:ext cx="432667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E4D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EA4E4D"/>
                </a:solidFill>
                <a:latin typeface="Arial"/>
                <a:ea typeface="Arial"/>
                <a:cs typeface="Arial"/>
                <a:sym typeface="Arial"/>
              </a:rPr>
              <a:t>Erro absoluto médio</a:t>
            </a:r>
            <a:r>
              <a:rPr lang="pt-BR"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pt-BR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(Mean Absolute Error – MAE)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2"/>
          <p:cNvSpPr txBox="1"/>
          <p:nvPr/>
        </p:nvSpPr>
        <p:spPr>
          <a:xfrm>
            <a:off x="5820938" y="4595202"/>
            <a:ext cx="530798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E4D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EA4E4D"/>
                </a:solidFill>
                <a:latin typeface="Arial"/>
                <a:ea typeface="Arial"/>
                <a:cs typeface="Arial"/>
                <a:sym typeface="Arial"/>
              </a:rPr>
              <a:t>Erro relativo médio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pt-BR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(Mean Percentagem Error – MPE)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21</a:t>
            </a:fld>
            <a:r>
              <a:rPr lang="pt-BR"/>
              <a:t>/40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A4E4D"/>
              </a:buClr>
              <a:buSzPts val="4400"/>
              <a:buFont typeface="Oswald"/>
              <a:buNone/>
            </a:pPr>
            <a:r>
              <a:rPr lang="pt-BR"/>
              <a:t>Função Custo – Erro médio</a:t>
            </a:r>
            <a:endParaRPr/>
          </a:p>
        </p:txBody>
      </p:sp>
      <p:sp>
        <p:nvSpPr>
          <p:cNvPr id="223" name="Google Shape;223;p13"/>
          <p:cNvSpPr txBox="1"/>
          <p:nvPr/>
        </p:nvSpPr>
        <p:spPr>
          <a:xfrm>
            <a:off x="838200" y="1690688"/>
            <a:ext cx="1051560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pt-BR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Para facilitar o cálculo do módulo, podemos elevar o resultado da diferença ao quadrado: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3"/>
          <p:cNvSpPr/>
          <p:nvPr/>
        </p:nvSpPr>
        <p:spPr>
          <a:xfrm>
            <a:off x="1639228" y="3233149"/>
            <a:ext cx="4079488" cy="1244508"/>
          </a:xfrm>
          <a:prstGeom prst="roundRect">
            <a:avLst>
              <a:gd name="adj" fmla="val 16667"/>
            </a:avLst>
          </a:prstGeom>
          <a:blipFill rotWithShape="1">
            <a:blip r:embed="rId3">
              <a:alphaModFix/>
            </a:blip>
            <a:stretch>
              <a:fillRect/>
            </a:stretch>
          </a:blipFill>
          <a:ln w="9525" cap="flat" cmpd="sng">
            <a:solidFill>
              <a:srgbClr val="EA4E4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3"/>
          <p:cNvSpPr txBox="1"/>
          <p:nvPr/>
        </p:nvSpPr>
        <p:spPr>
          <a:xfrm>
            <a:off x="6096000" y="3377188"/>
            <a:ext cx="432667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E4D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EA4E4D"/>
                </a:solidFill>
                <a:latin typeface="Arial"/>
                <a:ea typeface="Arial"/>
                <a:cs typeface="Arial"/>
                <a:sym typeface="Arial"/>
              </a:rPr>
              <a:t>Erro quadrático médio</a:t>
            </a:r>
            <a:r>
              <a:rPr lang="pt-BR"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pt-BR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(Mean Squared Error – MSE)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3"/>
          <p:cNvSpPr txBox="1"/>
          <p:nvPr/>
        </p:nvSpPr>
        <p:spPr>
          <a:xfrm>
            <a:off x="838200" y="4958695"/>
            <a:ext cx="1080739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pt-BR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É um dos mais usados para se criar os algoritmos de regressão!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22</a:t>
            </a:fld>
            <a:r>
              <a:rPr lang="pt-BR"/>
              <a:t>/40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drey_2020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37D49A8764A5C48814EF56013A935E1" ma:contentTypeVersion="32" ma:contentTypeDescription="Crie um novo documento." ma:contentTypeScope="" ma:versionID="e48c422205d73b9fecf801ce4166ebfd">
  <xsd:schema xmlns:xsd="http://www.w3.org/2001/XMLSchema" xmlns:xs="http://www.w3.org/2001/XMLSchema" xmlns:p="http://schemas.microsoft.com/office/2006/metadata/properties" xmlns:ns2="3b47981c-61e2-4894-9b95-d78484a6277d" xmlns:ns3="b466e2c2-c6c4-42b9-a506-879fde1702df" targetNamespace="http://schemas.microsoft.com/office/2006/metadata/properties" ma:root="true" ma:fieldsID="8aa0ffa8939d1863a888e2d6a88e2ed1" ns2:_="" ns3:_="">
    <xsd:import namespace="3b47981c-61e2-4894-9b95-d78484a6277d"/>
    <xsd:import namespace="b466e2c2-c6c4-42b9-a506-879fde1702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47981c-61e2-4894-9b95-d78484a627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otebookType" ma:index="11" nillable="true" ma:displayName="Notebook Type" ma:internalName="NotebookType">
      <xsd:simpleType>
        <xsd:restriction base="dms:Text"/>
      </xsd:simpleType>
    </xsd:element>
    <xsd:element name="FolderType" ma:index="12" nillable="true" ma:displayName="Folder Type" ma:internalName="FolderType">
      <xsd:simpleType>
        <xsd:restriction base="dms:Text"/>
      </xsd:simpleType>
    </xsd:element>
    <xsd:element name="CultureName" ma:index="13" nillable="true" ma:displayName="Culture Name" ma:internalName="CultureName">
      <xsd:simpleType>
        <xsd:restriction base="dms:Text"/>
      </xsd:simpleType>
    </xsd:element>
    <xsd:element name="AppVersion" ma:index="14" nillable="true" ma:displayName="App Version" ma:internalName="AppVersion">
      <xsd:simpleType>
        <xsd:restriction base="dms:Text"/>
      </xsd:simpleType>
    </xsd:element>
    <xsd:element name="TeamsChannelId" ma:index="15" nillable="true" ma:displayName="Teams Channel Id" ma:internalName="TeamsChannelId">
      <xsd:simpleType>
        <xsd:restriction base="dms:Text"/>
      </xsd:simpleType>
    </xsd:element>
    <xsd:element name="Owner" ma:index="16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7" nillable="true" ma:displayName="Math Settings" ma:internalName="Math_Settings">
      <xsd:simpleType>
        <xsd:restriction base="dms:Text"/>
      </xsd:simpleType>
    </xsd:element>
    <xsd:element name="DefaultSectionNames" ma:index="18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9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0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1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22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3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4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5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6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7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8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9" nillable="true" ma:displayName="Is Collaboration Space Locked" ma:internalName="Is_Collaboration_Space_Locked">
      <xsd:simpleType>
        <xsd:restriction base="dms:Boolean"/>
      </xsd:simpleType>
    </xsd:element>
    <xsd:element name="IsNotebookLocked" ma:index="30" nillable="true" ma:displayName="Is Notebook Locked" ma:internalName="IsNotebookLocked">
      <xsd:simpleType>
        <xsd:restriction base="dms:Boolean"/>
      </xsd:simpleType>
    </xsd:element>
    <xsd:element name="Teams_Channel_Section_Location" ma:index="31" nillable="true" ma:displayName="Teams Channel Section Location" ma:internalName="Teams_Channel_Section_Location">
      <xsd:simpleType>
        <xsd:restriction base="dms:Text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34" nillable="true" ma:taxonomy="true" ma:internalName="lcf76f155ced4ddcb4097134ff3c332f" ma:taxonomyFieldName="MediaServiceImageTags" ma:displayName="Marcações de imagem" ma:readOnly="false" ma:fieldId="{5cf76f15-5ced-4ddc-b409-7134ff3c332f}" ma:taxonomyMulti="true" ma:sspId="e2398b20-2c76-408b-9565-673d41e594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3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66e2c2-c6c4-42b9-a506-879fde1702df" elementFormDefault="qualified">
    <xsd:import namespace="http://schemas.microsoft.com/office/2006/documentManagement/types"/>
    <xsd:import namespace="http://schemas.microsoft.com/office/infopath/2007/PartnerControls"/>
    <xsd:element name="TaxCatchAll" ma:index="35" nillable="true" ma:displayName="Taxonomy Catch All Column" ma:hidden="true" ma:list="{ba2d1278-95be-446f-b449-0f6092327c59}" ma:internalName="TaxCatchAll" ma:showField="CatchAllData" ma:web="b466e2c2-c6c4-42b9-a506-879fde1702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udent_Groups xmlns="3b47981c-61e2-4894-9b95-d78484a6277d">
      <UserInfo>
        <DisplayName/>
        <AccountId xsi:nil="true"/>
        <AccountType/>
      </UserInfo>
    </Student_Groups>
    <Distribution_Groups xmlns="3b47981c-61e2-4894-9b95-d78484a6277d" xsi:nil="true"/>
    <Math_Settings xmlns="3b47981c-61e2-4894-9b95-d78484a6277d" xsi:nil="true"/>
    <Templates xmlns="3b47981c-61e2-4894-9b95-d78484a6277d" xsi:nil="true"/>
    <AppVersion xmlns="3b47981c-61e2-4894-9b95-d78484a6277d" xsi:nil="true"/>
    <TeamsChannelId xmlns="3b47981c-61e2-4894-9b95-d78484a6277d" xsi:nil="true"/>
    <Invited_Teachers xmlns="3b47981c-61e2-4894-9b95-d78484a6277d" xsi:nil="true"/>
    <IsNotebookLocked xmlns="3b47981c-61e2-4894-9b95-d78484a6277d" xsi:nil="true"/>
    <Students xmlns="3b47981c-61e2-4894-9b95-d78484a6277d">
      <UserInfo>
        <DisplayName/>
        <AccountId xsi:nil="true"/>
        <AccountType/>
      </UserInfo>
    </Students>
    <Has_Teacher_Only_SectionGroup xmlns="3b47981c-61e2-4894-9b95-d78484a6277d" xsi:nil="true"/>
    <FolderType xmlns="3b47981c-61e2-4894-9b95-d78484a6277d" xsi:nil="true"/>
    <Teachers xmlns="3b47981c-61e2-4894-9b95-d78484a6277d">
      <UserInfo>
        <DisplayName/>
        <AccountId xsi:nil="true"/>
        <AccountType/>
      </UserInfo>
    </Teachers>
    <lcf76f155ced4ddcb4097134ff3c332f xmlns="3b47981c-61e2-4894-9b95-d78484a6277d">
      <Terms xmlns="http://schemas.microsoft.com/office/infopath/2007/PartnerControls"/>
    </lcf76f155ced4ddcb4097134ff3c332f>
    <Self_Registration_Enabled xmlns="3b47981c-61e2-4894-9b95-d78484a6277d" xsi:nil="true"/>
    <LMS_Mappings xmlns="3b47981c-61e2-4894-9b95-d78484a6277d" xsi:nil="true"/>
    <NotebookType xmlns="3b47981c-61e2-4894-9b95-d78484a6277d" xsi:nil="true"/>
    <DefaultSectionNames xmlns="3b47981c-61e2-4894-9b95-d78484a6277d" xsi:nil="true"/>
    <Is_Collaboration_Space_Locked xmlns="3b47981c-61e2-4894-9b95-d78484a6277d" xsi:nil="true"/>
    <Teams_Channel_Section_Location xmlns="3b47981c-61e2-4894-9b95-d78484a6277d" xsi:nil="true"/>
    <CultureName xmlns="3b47981c-61e2-4894-9b95-d78484a6277d" xsi:nil="true"/>
    <Owner xmlns="3b47981c-61e2-4894-9b95-d78484a6277d">
      <UserInfo>
        <DisplayName/>
        <AccountId xsi:nil="true"/>
        <AccountType/>
      </UserInfo>
    </Owner>
    <TaxCatchAll xmlns="b466e2c2-c6c4-42b9-a506-879fde1702df" xsi:nil="true"/>
    <Invited_Students xmlns="3b47981c-61e2-4894-9b95-d78484a6277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A58ACB8-F8CD-4CB6-9679-5E0C50426F0E}">
  <ds:schemaRefs>
    <ds:schemaRef ds:uri="3b47981c-61e2-4894-9b95-d78484a6277d"/>
    <ds:schemaRef ds:uri="b466e2c2-c6c4-42b9-a506-879fde1702d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DCA1F1D-986B-457D-88D4-5AFC8062E56C}">
  <ds:schemaRefs>
    <ds:schemaRef ds:uri="3b47981c-61e2-4894-9b95-d78484a6277d"/>
    <ds:schemaRef ds:uri="b466e2c2-c6c4-42b9-a506-879fde1702df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823C316-1216-433A-8110-5422924D974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22</Slides>
  <Notes>22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Andrey_2020</vt:lpstr>
      <vt:lpstr>AI &amp; CHATBOT</vt:lpstr>
      <vt:lpstr>Regressão</vt:lpstr>
      <vt:lpstr>Aprendizado Supervisionado</vt:lpstr>
      <vt:lpstr>Aprendizado Supervisionado</vt:lpstr>
      <vt:lpstr>Aprendizado Supervisionado - Regressão</vt:lpstr>
      <vt:lpstr>Ciclo de um Projeto de IA</vt:lpstr>
      <vt:lpstr>Cases</vt:lpstr>
      <vt:lpstr>Walmart</vt:lpstr>
      <vt:lpstr>Uber</vt:lpstr>
      <vt:lpstr>Zillow</vt:lpstr>
      <vt:lpstr>Algoritmos de Regressão</vt:lpstr>
      <vt:lpstr>Regressão Linear</vt:lpstr>
      <vt:lpstr>Regressão Linear</vt:lpstr>
      <vt:lpstr>Regressão Polinomial</vt:lpstr>
      <vt:lpstr>Árvore de Decisão</vt:lpstr>
      <vt:lpstr>KNN</vt:lpstr>
      <vt:lpstr>Algoritmos de Regressão</vt:lpstr>
      <vt:lpstr>Métricas de Desempenho</vt:lpstr>
      <vt:lpstr>Contabilizando Acertos e Erros – Função Custo</vt:lpstr>
      <vt:lpstr>Função Custo – Erro absoluto e Erro relativo</vt:lpstr>
      <vt:lpstr>Função Custo – Erro médio</vt:lpstr>
      <vt:lpstr>Função Custo – Erro médio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Marcelo Carpinette Grave</dc:creator>
  <cp:revision>1</cp:revision>
  <dcterms:created xsi:type="dcterms:W3CDTF">2020-04-23T20:53:50Z</dcterms:created>
  <dcterms:modified xsi:type="dcterms:W3CDTF">2026-09-02T12:15:26Z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0x010100A37D49A8764A5C48814EF56013A935E1</vt:lpwstr>
  </property>
  <property fmtid="{D5CDD505-2E9C-101B-9397-08002B2CF9AE}" pid="3" name="MediaServiceImageTags">
    <vt:lpwstr/>
  </property>
</Properties>
</file>